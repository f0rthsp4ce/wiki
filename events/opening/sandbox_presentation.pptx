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imbus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imbus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imbus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imbus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imbus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Nimbus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imbus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imbus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imbus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imbus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imbus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Nimbus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Click to edit the title text format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Click to edit the outline </a:t>
            </a:r>
            <a:r>
              <a:rPr b="0" lang="en-US" sz="3200" spc="-1" strike="noStrike">
                <a:latin typeface="Nimbus Sans"/>
              </a:rPr>
              <a:t>text format</a:t>
            </a:r>
            <a:endParaRPr b="0" lang="en-US" sz="3200" spc="-1" strike="noStrike">
              <a:latin typeface="Nimbus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Nimbus Sans"/>
              </a:rPr>
              <a:t>Second Outline Level</a:t>
            </a:r>
            <a:endParaRPr b="0" lang="en-US" sz="2800" spc="-1" strike="noStrike">
              <a:latin typeface="Nimbus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Nimbus Sans"/>
              </a:rPr>
              <a:t>Third Outline Level</a:t>
            </a:r>
            <a:endParaRPr b="0" lang="en-US" sz="2400" spc="-1" strike="noStrike">
              <a:latin typeface="Nimbus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Nimbus Sans"/>
              </a:rPr>
              <a:t>Fourth Outline Level</a:t>
            </a:r>
            <a:endParaRPr b="0" lang="en-US" sz="2000" spc="-1" strike="noStrike">
              <a:latin typeface="Nimbus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imbus Sans"/>
              </a:rPr>
              <a:t>Fifth Outline Level</a:t>
            </a:r>
            <a:endParaRPr b="0" lang="en-US" sz="2000" spc="-1" strike="noStrike">
              <a:latin typeface="Nimbus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imbus Sans"/>
              </a:rPr>
              <a:t>Sixth Outline </a:t>
            </a:r>
            <a:r>
              <a:rPr b="0" lang="en-US" sz="2000" spc="-1" strike="noStrike">
                <a:latin typeface="Nimbus Sans"/>
              </a:rPr>
              <a:t>Level</a:t>
            </a:r>
            <a:endParaRPr b="0" lang="en-US" sz="2000" spc="-1" strike="noStrike">
              <a:latin typeface="Nimbus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Nimbus Sans"/>
              </a:rPr>
              <a:t>Seventh </a:t>
            </a:r>
            <a:r>
              <a:rPr b="0" lang="en-US" sz="2000" spc="-1" strike="noStrike">
                <a:latin typeface="Nimbus Sans"/>
              </a:rPr>
              <a:t>Outline Level</a:t>
            </a:r>
            <a:endParaRPr b="0" lang="en-US" sz="2000" spc="-1" strike="noStrike">
              <a:latin typeface="Nimbus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Nimbus Roman"/>
              </a:rPr>
              <a:t>&lt;date/time&gt;</a:t>
            </a:r>
            <a:endParaRPr b="0" lang="en-US" sz="1400" spc="-1" strike="noStrike">
              <a:latin typeface="Nimbus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>
              <a:buNone/>
            </a:pPr>
            <a:r>
              <a:rPr b="0" lang="en-US" sz="1400" spc="-1" strike="noStrike">
                <a:latin typeface="Nimbus Roman"/>
              </a:rPr>
              <a:t>&lt;footer&gt;</a:t>
            </a:r>
            <a:endParaRPr b="0" lang="en-US" sz="1400" spc="-1" strike="noStrike">
              <a:latin typeface="Nimbus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fld id="{06175030-2DE9-4235-BA89-6A8AD2291405}" type="slidenum">
              <a:rPr b="0" lang="en-US" sz="1400" spc="-1" strike="noStrike">
                <a:latin typeface="Nimbus Roman"/>
              </a:rPr>
              <a:t>&lt;number&gt;</a:t>
            </a:fld>
            <a:endParaRPr b="0" lang="en-US" sz="1400" spc="-1" strike="noStrike">
              <a:latin typeface="Nimbus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hyperlink" Target="https://cuckoo.cert.ee/analysis/2885609/summary/" TargetMode="External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hyperlink" Target="https://cuckoo.cert.ee/analysis/2885781/summary/" TargetMode="External"/><Relationship Id="rId4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4880"/>
            <a:ext cx="9325800" cy="160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Sandbox: </a:t>
            </a:r>
            <a:r>
              <a:rPr b="0" lang="en-US" sz="4400" spc="-1" strike="noStrike">
                <a:latin typeface="Nimbus Sans"/>
              </a:rPr>
              <a:t>structure and </a:t>
            </a:r>
            <a:r>
              <a:rPr b="0" lang="en-US" sz="4400" spc="-1" strike="noStrike">
                <a:latin typeface="Nimbus Sans"/>
              </a:rPr>
              <a:t>application</a:t>
            </a:r>
            <a:endParaRPr b="0" lang="en-US" sz="4400" spc="-1" strike="noStrike"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What is a </a:t>
            </a:r>
            <a:r>
              <a:rPr b="0" lang="en-US" sz="4400" spc="-1" strike="noStrike">
                <a:latin typeface="Nimbus Sans"/>
              </a:rPr>
              <a:t>sandbox?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3258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Isolated virtual </a:t>
            </a:r>
            <a:r>
              <a:rPr b="0" lang="en-US" sz="3200" spc="-1" strike="noStrike">
                <a:latin typeface="Nimbus Sans"/>
              </a:rPr>
              <a:t>environment.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Malware detection. 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Behavioral analysis. 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Examples: Kaspersky </a:t>
            </a:r>
            <a:r>
              <a:rPr b="0" lang="en-US" sz="3200" spc="-1" strike="noStrike">
                <a:latin typeface="Nimbus Sans"/>
              </a:rPr>
              <a:t>KATA, Pyrebox, </a:t>
            </a:r>
            <a:r>
              <a:rPr b="0" lang="en-US" sz="3200" spc="-1" strike="noStrike">
                <a:latin typeface="Nimbus Sans"/>
              </a:rPr>
              <a:t>Cuckoo sandbox, </a:t>
            </a:r>
            <a:r>
              <a:rPr b="0" lang="en-US" sz="3200" spc="-1" strike="noStrike">
                <a:latin typeface="Nimbus Sans"/>
              </a:rPr>
              <a:t>Group-IB THF, </a:t>
            </a:r>
            <a:r>
              <a:rPr b="0" lang="en-US" sz="3200" spc="-1" strike="noStrike">
                <a:latin typeface="Nimbus Sans"/>
              </a:rPr>
              <a:t>ANY.RUN, </a:t>
            </a:r>
            <a:r>
              <a:rPr b="0" lang="en-US" sz="3200" spc="-1" strike="noStrike">
                <a:latin typeface="Nimbus Sans"/>
              </a:rPr>
              <a:t>FortiSandbox</a:t>
            </a:r>
            <a:endParaRPr b="0" lang="en-US" sz="3200" spc="-1" strike="noStrike"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Pros and cons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n-US" sz="3200" spc="-1" strike="noStrike">
                <a:latin typeface="Nimbus Sans"/>
              </a:rPr>
              <a:t>Understanding how </a:t>
            </a:r>
            <a:r>
              <a:rPr b="0" lang="en-US" sz="3200" spc="-1" strike="noStrike">
                <a:latin typeface="Nimbus Sans"/>
              </a:rPr>
              <a:t>malware works.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n-US" sz="3200" spc="-1" strike="noStrike">
                <a:latin typeface="Nimbus Sans"/>
              </a:rPr>
              <a:t>Higher detection </a:t>
            </a:r>
            <a:r>
              <a:rPr b="0" lang="en-US" sz="3200" spc="-1" strike="noStrike">
                <a:latin typeface="Nimbus Sans"/>
              </a:rPr>
              <a:t>rate.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"/>
            </a:pPr>
            <a:r>
              <a:rPr b="0" lang="en-US" sz="3200" spc="-1" strike="noStrike">
                <a:latin typeface="Nimbus Sans"/>
              </a:rPr>
              <a:t>Useful for research </a:t>
            </a:r>
            <a:r>
              <a:rPr b="0" lang="en-US" sz="3200" spc="-1" strike="noStrike">
                <a:latin typeface="Nimbus Sans"/>
              </a:rPr>
              <a:t>and intelligence </a:t>
            </a:r>
            <a:r>
              <a:rPr b="0" lang="en-US" sz="3200" spc="-1" strike="noStrike">
                <a:latin typeface="Nimbus Sans"/>
              </a:rPr>
              <a:t>gathering.</a:t>
            </a:r>
            <a:endParaRPr b="0" lang="en-US" sz="3200" spc="-1" strike="noStrike">
              <a:latin typeface="Nimbus Sans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"/>
            </a:pPr>
            <a:r>
              <a:rPr b="0" lang="en-US" sz="3200" spc="-1" strike="noStrike">
                <a:latin typeface="Nimbus Sans"/>
              </a:rPr>
              <a:t>Extremely slow analysis.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"/>
            </a:pPr>
            <a:r>
              <a:rPr b="0" lang="en-US" sz="3200" spc="-1" strike="noStrike">
                <a:latin typeface="Nimbus Sans"/>
              </a:rPr>
              <a:t>Tremendous resource consumption compared to AV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"/>
            </a:pPr>
            <a:r>
              <a:rPr b="0" lang="en-US" sz="3200" spc="-1" strike="noStrike">
                <a:latin typeface="Nimbus Sans"/>
              </a:rPr>
              <a:t>Enterprise solutions are expensive</a:t>
            </a:r>
            <a:endParaRPr b="0" lang="en-US" sz="3200" spc="-1" strike="noStrike"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Typical sandbox architecture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Hypervisor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Monitor (as a kernel </a:t>
            </a:r>
            <a:r>
              <a:rPr b="0" lang="en-US" sz="3200" spc="-1" strike="noStrike">
                <a:latin typeface="Nimbus Sans"/>
              </a:rPr>
              <a:t>module or as a part </a:t>
            </a:r>
            <a:r>
              <a:rPr b="0" lang="en-US" sz="3200" spc="-1" strike="noStrike">
                <a:latin typeface="Nimbus Sans"/>
              </a:rPr>
              <a:t>of the hypervisor)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Agent (optional)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Classification system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Behavioral rules </a:t>
            </a:r>
            <a:r>
              <a:rPr b="0" lang="en-US" sz="3200" spc="-1" strike="noStrike">
                <a:latin typeface="Nimbus Sans"/>
              </a:rPr>
              <a:t>system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Reports database.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Job queue(Optional)</a:t>
            </a:r>
            <a:endParaRPr b="0" lang="en-US" sz="3200" spc="-1" strike="noStrike">
              <a:latin typeface="Nimbus Sans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5428800" y="1098000"/>
            <a:ext cx="4362480" cy="3702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Cuckoo sandbox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97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Opensource sandbox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Community written </a:t>
            </a:r>
            <a:r>
              <a:rPr b="0" lang="en-US" sz="3200" spc="-1" strike="noStrike">
                <a:latin typeface="Nimbus Sans"/>
              </a:rPr>
              <a:t>signatures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Written in python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Is no longer </a:t>
            </a:r>
            <a:r>
              <a:rPr b="0" lang="en-US" sz="3200" spc="-1" strike="noStrike">
                <a:latin typeface="Nimbus Sans"/>
              </a:rPr>
              <a:t>supported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Different hypervisors</a:t>
            </a:r>
            <a:endParaRPr b="0" lang="en-US" sz="3200" spc="-1" strike="noStrike"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Cuckoo sandbox</a:t>
            </a:r>
            <a:endParaRPr b="0" lang="en-US" sz="4400" spc="-1" strike="noStrike">
              <a:latin typeface="Nimbus Sans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174680" y="1143000"/>
            <a:ext cx="7512120" cy="4333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Sandbox </a:t>
            </a:r>
            <a:r>
              <a:rPr b="0" lang="en-US" sz="4400" spc="-1" strike="noStrike">
                <a:latin typeface="Nimbus Sans"/>
              </a:rPr>
              <a:t>integration </a:t>
            </a:r>
            <a:r>
              <a:rPr b="0" lang="en-US" sz="4400" spc="-1" strike="noStrike">
                <a:latin typeface="Nimbus Sans"/>
              </a:rPr>
              <a:t>schemes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SMTP Proxy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Traffic capture and </a:t>
            </a:r>
            <a:r>
              <a:rPr b="0" lang="en-US" sz="3200" spc="-1" strike="noStrike">
                <a:latin typeface="Nimbus Sans"/>
              </a:rPr>
              <a:t>MiTM Proxy (Bro </a:t>
            </a:r>
            <a:r>
              <a:rPr b="0" lang="en-US" sz="3200" spc="-1" strike="noStrike">
                <a:latin typeface="Nimbus Sans"/>
              </a:rPr>
              <a:t>IDS)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Endpoint solutions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Stand alone (for </a:t>
            </a:r>
            <a:r>
              <a:rPr b="0" lang="en-US" sz="3200" spc="-1" strike="noStrike">
                <a:latin typeface="Nimbus Sans"/>
              </a:rPr>
              <a:t>malware analysts and </a:t>
            </a:r>
            <a:r>
              <a:rPr b="0" lang="en-US" sz="3200" spc="-1" strike="noStrike">
                <a:latin typeface="Nimbus Sans"/>
              </a:rPr>
              <a:t>paranoid people)</a:t>
            </a:r>
            <a:endParaRPr b="0" lang="en-US" sz="3200" spc="-1" strike="noStrike">
              <a:latin typeface="Nimbus San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4800600" y="1200240"/>
            <a:ext cx="4800600" cy="360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Other antimalware/infosec solutions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6800" y="1326600"/>
            <a:ext cx="49824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Antiviruses and multiscanners (Virus Total)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Endpoint detection and response (EDR)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Intrusion detection/prevention system (IDS/IPS)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Firewall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WAF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security information and event management (SIEM)</a:t>
            </a:r>
            <a:endParaRPr b="0" lang="en-US" sz="3200" spc="-1" strike="noStrike">
              <a:latin typeface="Nimbus Sans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5097240" y="1371600"/>
            <a:ext cx="4732560" cy="297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What are we up </a:t>
            </a:r>
            <a:r>
              <a:rPr b="0" lang="en-US" sz="4400" spc="-1" strike="noStrike">
                <a:latin typeface="Nimbus Sans"/>
              </a:rPr>
              <a:t>against?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3258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2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  <a:ea typeface="Nimbus Sans"/>
              </a:rPr>
              <a:t>Ransomware (most commonly cryptolockers) - </a:t>
            </a:r>
            <a:r>
              <a:rPr b="0" lang="en-US" sz="3200" spc="-1" strike="noStrike">
                <a:latin typeface="Nimbus Sans"/>
              </a:rPr>
              <a:t>Ryuk, Revil, Gandcrab, Lockbit, Hive.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Remote Acess Trojans (RAT) –  Nanocore, Quasar, Remcos.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Spyware (stealers, keyloggers) – Agent Tesla, Loki, Pony, HawkEye.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Botnets – emotet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Banking Trojans – (RTM, Zeus, Dridex). </a:t>
            </a:r>
            <a:endParaRPr b="0" lang="en-US" sz="3200" spc="-1" strike="noStrike"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Malware replication 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972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Worms (MyDoom)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Viruses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Trojans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Zero day/Zero click and other vulnerabilities.</a:t>
            </a:r>
            <a:endParaRPr b="0" lang="en-US" sz="3200" spc="-1" strike="noStrike"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Toy example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504000" y="1172520"/>
            <a:ext cx="4296600" cy="385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Example which mimics real malware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Contains different instrumentations 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No actual malicious actions performed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Easily detectable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Some components are designed to be detected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Creates a file specific for Andromeda malware</a:t>
            </a:r>
            <a:endParaRPr b="0" lang="en-US" sz="3200" spc="-1" strike="noStrike">
              <a:latin typeface="Nimbus Sans"/>
            </a:endParaRPr>
          </a:p>
        </p:txBody>
      </p:sp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4921200" y="1143000"/>
            <a:ext cx="4908600" cy="380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Pure sample analysis</a:t>
            </a:r>
            <a:endParaRPr b="0" lang="en-US" sz="4400" spc="-1" strike="noStrike">
              <a:latin typeface="Nimbus Sans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-21240" y="2514600"/>
            <a:ext cx="10079640" cy="3186000"/>
          </a:xfrm>
          <a:prstGeom prst="rect">
            <a:avLst/>
          </a:prstGeom>
          <a:ln w="0">
            <a:noFill/>
          </a:ln>
        </p:spPr>
      </p:pic>
      <p:sp>
        <p:nvSpPr>
          <p:cNvPr id="70" name=""/>
          <p:cNvSpPr txBox="1"/>
          <p:nvPr/>
        </p:nvSpPr>
        <p:spPr>
          <a:xfrm>
            <a:off x="257400" y="1433520"/>
            <a:ext cx="4086000" cy="39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imbus Roman"/>
                <a:hlinkClick r:id="rId2"/>
              </a:rPr>
              <a:t>https://cuckoo.cert.ee/analysis/2885609/summary/</a:t>
            </a:r>
            <a:endParaRPr b="0" lang="en-US" sz="2400" spc="-1" strike="noStrike">
              <a:latin typeface="Nimbus Roman"/>
            </a:endParaRPr>
          </a:p>
        </p:txBody>
      </p:sp>
      <p:pic>
        <p:nvPicPr>
          <p:cNvPr id="71" name="" descr=""/>
          <p:cNvPicPr/>
          <p:nvPr/>
        </p:nvPicPr>
        <p:blipFill>
          <a:blip r:embed="rId3"/>
          <a:stretch/>
        </p:blipFill>
        <p:spPr>
          <a:xfrm>
            <a:off x="4734360" y="962280"/>
            <a:ext cx="4866840" cy="155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Sandbox detection and escape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10" spc="-1" strike="noStrike">
                <a:latin typeface="Nimbus Sans"/>
              </a:rPr>
              <a:t>Red pill virtualiztion detection (Joanna Rutkowska)</a:t>
            </a:r>
            <a:endParaRPr b="0" lang="en-US" sz="241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10" spc="-1" strike="noStrike">
                <a:latin typeface="Nimbus Sans"/>
              </a:rPr>
              <a:t>Virtual machine escape (buffer overflows in drivers usually) CVE-2020-3962, CVE-2020-3963</a:t>
            </a:r>
            <a:endParaRPr b="0" lang="en-US" sz="241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10" spc="-1" strike="noStrike">
                <a:latin typeface="Nimbus Sans"/>
              </a:rPr>
              <a:t>Don’t mistake with the blue pill rootkit.</a:t>
            </a:r>
            <a:endParaRPr b="0" lang="en-US" sz="2410" spc="-1" strike="noStrike">
              <a:latin typeface="Nimbus Sans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Nimbus Sans"/>
            </a:endParaRPr>
          </a:p>
        </p:txBody>
      </p:sp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5257800" y="1143000"/>
            <a:ext cx="3996720" cy="4114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196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Sandbox detection</a:t>
            </a:r>
            <a:endParaRPr b="0" lang="en-US" sz="4400" spc="-1" strike="noStrike">
              <a:latin typeface="Nimbus Sans"/>
            </a:endParaRPr>
          </a:p>
        </p:txBody>
      </p:sp>
      <p:graphicFrame>
        <p:nvGraphicFramePr>
          <p:cNvPr id="77" name=""/>
          <p:cNvGraphicFramePr/>
          <p:nvPr/>
        </p:nvGraphicFramePr>
        <p:xfrm>
          <a:off x="541800" y="953280"/>
          <a:ext cx="9096840" cy="4717080"/>
        </p:xfrm>
        <a:graphic>
          <a:graphicData uri="http://schemas.openxmlformats.org/drawingml/2006/table">
            <a:tbl>
              <a:tblPr/>
              <a:tblGrid>
                <a:gridCol w="4547880"/>
                <a:gridCol w="4549320"/>
              </a:tblGrid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Nimbus Sans"/>
                          <a:ea typeface="Nimbus Sans"/>
                        </a:rPr>
                        <a:t>How to detect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Nimbus Sans"/>
                        </a:rPr>
                        <a:t>How to evade detection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Running processes and loaded libraries, existing files specific for a sandbox.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Generate names of monitor and agent at each sandbox run.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Vendor and product Ids of devices specific for Virtual Machines.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Self written or patched hypervisor with emulation of real devices, including serial numbers and descriptors.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Low amount of RAM and low CPU count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This is unstable and rarely used method. </a:t>
                      </a:r>
                      <a:endParaRPr b="0" lang="en-US" sz="1800" spc="-1" strike="noStrike">
                        <a:latin typeface="Nimbus Sans"/>
                      </a:endParaRPr>
                    </a:p>
                    <a:p>
                      <a:r>
                        <a:rPr b="0" lang="en-US" sz="1800" spc="-1" strike="noStrike">
                          <a:latin typeface="Nimbus Sans"/>
                        </a:rPr>
                        <a:t>Adding signature for CPU count and RAM amount would be sufficient. 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Screen resolution (Vms usually have low screen resolution due to performance reasons)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Use VM with higher screen resolution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Missing common software (Adobe products, Bankinkg software, etc.). Non unique usernames and timezones.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Use different VM base images with preinstalled software. Change username and timezone for each run.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Sandbox detection</a:t>
            </a:r>
            <a:endParaRPr b="0" lang="en-US" sz="4400" spc="-1" strike="noStrike">
              <a:latin typeface="Nimbus Sans"/>
            </a:endParaRPr>
          </a:p>
        </p:txBody>
      </p:sp>
      <p:graphicFrame>
        <p:nvGraphicFramePr>
          <p:cNvPr id="79" name=""/>
          <p:cNvGraphicFramePr/>
          <p:nvPr/>
        </p:nvGraphicFramePr>
        <p:xfrm>
          <a:off x="542160" y="953640"/>
          <a:ext cx="9096840" cy="4939200"/>
        </p:xfrm>
        <a:graphic>
          <a:graphicData uri="http://schemas.openxmlformats.org/drawingml/2006/table">
            <a:tbl>
              <a:tblPr/>
              <a:tblGrid>
                <a:gridCol w="4547880"/>
                <a:gridCol w="4549320"/>
              </a:tblGrid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latin typeface="Nimbus Sans"/>
                          <a:ea typeface="Nimbus Sans"/>
                        </a:rPr>
                        <a:t>How to detect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algn="ctr">
                        <a:buNone/>
                      </a:pPr>
                      <a:r>
                        <a:rPr b="0" lang="en-US" sz="1800" spc="-1" strike="noStrike">
                          <a:latin typeface="Nimbus Sans"/>
                        </a:rPr>
                        <a:t>How to evade detection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Mouse movement, clickable buttons, using Machine Learning to detect whether mouse movement was performed by a user.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Custom mouse HID driver. Recorded users mouse movement. Computer vision (Tesseract), GANs usage for userlike behavior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Sleep, sleep with NTP, sleep with get ticks count, instruction hammering (CloudEye).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Sleep skipping (kernel hooks), signature for instruction hammering, static detection.</a:t>
                      </a:r>
                      <a:br/>
                      <a:r>
                        <a:rPr b="0" lang="en-US" sz="1800" spc="-1" strike="noStrike">
                          <a:latin typeface="Nimbus Sans"/>
                        </a:rPr>
                        <a:t>Signature for NTP communications.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Syscalls time comparison. 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Use more performant hardware and harware virtualization technology like intel VT-X. Hook time calls.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78624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Using invalid process instructions which </a:t>
                      </a:r>
                      <a:r>
                        <a:rPr b="0" lang="en-US" sz="1800" spc="-1" strike="noStrike">
                          <a:latin typeface="Nimbus Sans"/>
                        </a:rPr>
                        <a:t>work on a virtual CPU  (0x0F, 0x3F).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Hypervisor patches.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371880"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Creating high CPU load for a long period of </a:t>
                      </a:r>
                      <a:r>
                        <a:rPr b="0" lang="en-US" sz="1800" spc="-1" strike="noStrike">
                          <a:latin typeface="Nimbus Sans"/>
                        </a:rPr>
                        <a:t>time.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r>
                        <a:rPr b="0" lang="en-US" sz="1800" spc="-1" strike="noStrike">
                          <a:latin typeface="Nimbus Sans"/>
                        </a:rPr>
                        <a:t>Measure CPU load, signature to detect </a:t>
                      </a:r>
                      <a:r>
                        <a:rPr b="0" lang="en-US" sz="1800" spc="-1" strike="noStrike">
                          <a:latin typeface="Nimbus Sans"/>
                        </a:rPr>
                        <a:t>CPU overusage without syscalls.</a:t>
                      </a:r>
                      <a:endParaRPr b="0" lang="en-US" sz="1800" spc="-1" strike="noStrike">
                        <a:latin typeface="Nimbus Sans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Sandbox bypass in action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Powershell script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Sleep with time check using HTTP time server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Base64 encoded binary in script body (Simplest and signature detectable method, need to use generic encryption)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Simple drop of file without injection, detectable by AV engines</a:t>
            </a:r>
            <a:endParaRPr b="0" lang="en-US" sz="3200" spc="-1" strike="noStrike">
              <a:latin typeface="Nimbus Sans"/>
            </a:endParaRPr>
          </a:p>
        </p:txBody>
      </p:sp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5029200" y="1371600"/>
            <a:ext cx="5029200" cy="297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Sandbox bypass in action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426920" cy="210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Application didn’t run in the sandbox.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False positive markers</a:t>
            </a:r>
            <a:endParaRPr b="0" lang="en-US" sz="3200" spc="-1" strike="noStrike">
              <a:latin typeface="Nimbus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Nimbus Sans"/>
              </a:rPr>
              <a:t>No firewall interaction</a:t>
            </a:r>
            <a:endParaRPr b="0" lang="en-US" sz="2800" spc="-1" strike="noStrike">
              <a:latin typeface="Nimbus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Nimbus Sans"/>
              </a:rPr>
              <a:t>No dll loads, pure powershell</a:t>
            </a:r>
            <a:endParaRPr b="0" lang="en-US" sz="2800" spc="-1" strike="noStrike">
              <a:latin typeface="Nimbus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Nimbus Sans"/>
              </a:rPr>
              <a:t>No process injection, payload dropped on disk</a:t>
            </a:r>
            <a:endParaRPr b="0" lang="en-US" sz="2800" spc="-1" strike="noStrike">
              <a:latin typeface="Nimbus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Nimbus Sans"/>
              </a:rPr>
              <a:t>And we are not tampering with kernel modules for sure</a:t>
            </a:r>
            <a:endParaRPr b="0" lang="en-US" sz="2800" spc="-1" strike="noStrike">
              <a:latin typeface="Nimbus Sans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5029200" y="1876680"/>
            <a:ext cx="5029200" cy="1552320"/>
          </a:xfrm>
          <a:prstGeom prst="rect">
            <a:avLst/>
          </a:prstGeom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2"/>
          <a:stretch/>
        </p:blipFill>
        <p:spPr>
          <a:xfrm>
            <a:off x="0" y="3886200"/>
            <a:ext cx="10079640" cy="15019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 txBox="1"/>
          <p:nvPr/>
        </p:nvSpPr>
        <p:spPr>
          <a:xfrm>
            <a:off x="2057400" y="1143000"/>
            <a:ext cx="6400800" cy="395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imbus Roman"/>
                <a:hlinkClick r:id="rId3"/>
              </a:rPr>
              <a:t>https://cuckoo.cert.ee/analysis/2885781/summary/</a:t>
            </a:r>
            <a:endParaRPr b="0" lang="en-US" sz="2400" spc="-1" strike="noStrike">
              <a:latin typeface="Nimbus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Nimbus Sans"/>
              </a:rPr>
              <a:t>Conclusion</a:t>
            </a:r>
            <a:endParaRPr b="0" lang="en-US" sz="4400" spc="-1" strike="noStrike">
              <a:latin typeface="Nimbus San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325800" cy="415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Sandbox are easy to bypass nowadays.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Huge amount of methods to bypass. 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There is no silver bullet, use integrated infosec systems.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Malware detonation approach.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Hardware sandboxes (switch level isolation, diskless machines).</a:t>
            </a:r>
            <a:endParaRPr b="0" lang="en-US" sz="3200" spc="-1" strike="noStrike">
              <a:latin typeface="Nimbus Sans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Nimbus Sans"/>
              </a:rPr>
              <a:t>Sandbox and EDRs are the most robust information security solutions.</a:t>
            </a:r>
            <a:endParaRPr b="0" lang="en-US" sz="3200" spc="-1" strike="noStrike">
              <a:latin typeface="Nimbus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0" y="-28080"/>
            <a:ext cx="10080000" cy="574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2107</TotalTime>
  <Application>LibreOffice/7.2.6.2$Linux_X86_64 LibreOffice_project/20$Build-2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2022-03-23T18:06:36Z</dcterms:created>
  <dc:creator/>
  <dc:description/>
  <dc:language>en-US</dc:language>
  <cp:lastModifiedBy/>
  <dcterms:modified xsi:type="dcterms:W3CDTF">2022-03-26T00:49:01Z</dcterms:modified>
  <cp:revision>16</cp:revision>
  <dc:subject/>
  <dc:title/>
</cp:coreProperties>
</file>